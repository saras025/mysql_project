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hMLxxiPbzC6r7BTn0Wu4/8ycIl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customschemas.google.com/relationships/presentationmetadata" Target="meta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313938e2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e313938e2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de313938e2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e7948e67e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g3de7948e67e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e6c498e7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e6c498e7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de6c498e7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e6c498e7e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e6c498e7e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de6c498e7e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e7948e67e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e7948e67e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de7948e67e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e313938e2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e313938e2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de313938e2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e487d57e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e487d57e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de487d57e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e487d57ec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e487d57ec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de487d57ec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e313938e2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e313938e2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de313938e2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e313938e2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e313938e2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de313938e2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e313938e2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e313938e2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de313938e2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e313938e2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e313938e2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de313938e2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e487d57ec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e487d57ec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de487d57ec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e313938e2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e313938e2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de313938e2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e313938e2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e313938e2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de313938e2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e313938e2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e313938e2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de313938e2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e313938e2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e313938e2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de313938e2_0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e487d57ec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e487d57ec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de487d57ec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e313938e2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e313938e2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de313938e2_0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e313938e2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e313938e2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de313938e2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e313938e2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e313938e2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de313938e2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e313938e2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e313938e2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de313938e2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e487d57ec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de487d57ec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de487d57ec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e313938e2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e313938e2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de313938e2_0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e313938e2_0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de313938e2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de313938e2_0_1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e313938e2_0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de313938e2_0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de313938e2_0_1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e313938e2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e313938e2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de313938e2_0_1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e313938e2_0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e313938e2_0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de313938e2_0_1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e313938e2_0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e313938e2_0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de313938e2_0_1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e7948e67e_0_9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de7948e67e_0_9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de7948e67e_0_9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e7948e67e_0_9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e7948e67e_0_9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de7948e67e_0_9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4" name="Google Shape;3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de7948e67e_0_91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g3de7948e67e_0_91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g3de7948e67e_0_9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de7948e67e_0_919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de7948e67e_0_9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de7948e67e_0_92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3de7948e67e_0_92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g3de7948e67e_0_9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de7948e67e_0_92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g3de7948e67e_0_926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g3de7948e67e_0_926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g3de7948e67e_0_92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de7948e67e_0_93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g3de7948e67e_0_9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de7948e67e_0_934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g3de7948e67e_0_934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3de7948e67e_0_93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de7948e67e_0_93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3de7948e67e_0_93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de7948e67e_0_941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de7948e67e_0_941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g3de7948e67e_0_941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g3de7948e67e_0_941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g3de7948e67e_0_9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de7948e67e_0_947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g3de7948e67e_0_94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de7948e67e_0_950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3de7948e67e_0_950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g3de7948e67e_0_9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e7948e67e_0_95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e7948e67e_0_95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de7948e67e_0_95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g3de7948e67e_0_95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de7948e67e_0_95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de7948e67e_0_9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0" name="Google Shape;60;g3de7948e67e_0_9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de7948e67e_0_9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de7948e67e_0_91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de7948e67e_0_9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" y="1887"/>
            <a:ext cx="12190813" cy="685611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"/>
          <p:cNvSpPr txBox="1"/>
          <p:nvPr/>
        </p:nvSpPr>
        <p:spPr>
          <a:xfrm>
            <a:off x="2472900" y="3717943"/>
            <a:ext cx="72462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3000">
                <a:solidFill>
                  <a:schemeClr val="dk1"/>
                </a:solidFill>
                <a:highlight>
                  <a:schemeClr val="lt1"/>
                </a:highlight>
              </a:rPr>
              <a:t>Employee Management System</a:t>
            </a:r>
            <a:endParaRPr b="1" sz="3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2883550" y="4546000"/>
            <a:ext cx="60777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By Saraswathi and Pragna Nerella </a:t>
            </a:r>
            <a:endParaRPr b="1"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e313938e2_0_3"/>
          <p:cNvSpPr txBox="1"/>
          <p:nvPr>
            <p:ph type="title"/>
          </p:nvPr>
        </p:nvSpPr>
        <p:spPr>
          <a:xfrm>
            <a:off x="224050" y="246000"/>
            <a:ext cx="4625700" cy="89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800">
                <a:solidFill>
                  <a:srgbClr val="FF0000"/>
                </a:solidFill>
              </a:rPr>
              <a:t>What is SQL ?</a:t>
            </a:r>
            <a:endParaRPr sz="3800">
              <a:solidFill>
                <a:srgbClr val="FF0000"/>
              </a:solidFill>
            </a:endParaRPr>
          </a:p>
        </p:txBody>
      </p:sp>
      <p:sp>
        <p:nvSpPr>
          <p:cNvPr id="74" name="Google Shape;74;g3de313938e2_0_3"/>
          <p:cNvSpPr txBox="1"/>
          <p:nvPr>
            <p:ph type="title"/>
          </p:nvPr>
        </p:nvSpPr>
        <p:spPr>
          <a:xfrm>
            <a:off x="224050" y="2981250"/>
            <a:ext cx="4625700" cy="89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800">
                <a:solidFill>
                  <a:srgbClr val="FF0000"/>
                </a:solidFill>
              </a:rPr>
              <a:t>Why </a:t>
            </a:r>
            <a:r>
              <a:rPr lang="en-IN" sz="3800">
                <a:solidFill>
                  <a:srgbClr val="FF0000"/>
                </a:solidFill>
              </a:rPr>
              <a:t>SQL ?</a:t>
            </a:r>
            <a:endParaRPr sz="3800">
              <a:solidFill>
                <a:srgbClr val="FF0000"/>
              </a:solidFill>
            </a:endParaRPr>
          </a:p>
        </p:txBody>
      </p:sp>
      <p:sp>
        <p:nvSpPr>
          <p:cNvPr id="75" name="Google Shape;75;g3de313938e2_0_3"/>
          <p:cNvSpPr txBox="1"/>
          <p:nvPr/>
        </p:nvSpPr>
        <p:spPr>
          <a:xfrm>
            <a:off x="332625" y="1260725"/>
            <a:ext cx="11498400" cy="16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r>
              <a:rPr lang="en-I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(Structured Query Language) is the standard language used to communicate with databases. Think of it as the "bridge" that allows you to talk to a computer's data storage system.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de313938e2_0_3"/>
          <p:cNvSpPr txBox="1"/>
          <p:nvPr/>
        </p:nvSpPr>
        <p:spPr>
          <a:xfrm>
            <a:off x="224050" y="3923875"/>
            <a:ext cx="6693600" cy="20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I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I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 &amp; Speed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I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Handles Massive Data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I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g3de313938e2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7650" y="2367550"/>
            <a:ext cx="4708050" cy="389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e7948e67e_0_49"/>
          <p:cNvSpPr txBox="1"/>
          <p:nvPr>
            <p:ph type="title"/>
          </p:nvPr>
        </p:nvSpPr>
        <p:spPr>
          <a:xfrm>
            <a:off x="208475" y="18250"/>
            <a:ext cx="113145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lang="en-IN">
                <a:solidFill>
                  <a:srgbClr val="FF0000"/>
                </a:solidFill>
              </a:rPr>
              <a:t>Problem Statement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3" name="Google Shape;83;g3de7948e67e_0_49"/>
          <p:cNvSpPr txBox="1"/>
          <p:nvPr>
            <p:ph idx="1" type="body"/>
          </p:nvPr>
        </p:nvSpPr>
        <p:spPr>
          <a:xfrm>
            <a:off x="788250" y="1486575"/>
            <a:ext cx="10615500" cy="4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520"/>
              <a:buFont typeface="Calibri"/>
              <a:buChar char="➢"/>
            </a:pPr>
            <a:r>
              <a:rPr lang="en-IN" sz="2520"/>
              <a:t>Design a centralized system to store and manage employee data efficiently.</a:t>
            </a:r>
            <a:endParaRPr sz="2520"/>
          </a:p>
          <a:p>
            <a:pPr indent="-38862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520"/>
              <a:buFont typeface="Calibri"/>
              <a:buChar char="➢"/>
            </a:pPr>
            <a:r>
              <a:rPr lang="en-IN" sz="2520"/>
              <a:t>Track personal details, job roles, qualifications, leaves, and payroll in one unified platform.</a:t>
            </a:r>
            <a:endParaRPr sz="2520"/>
          </a:p>
          <a:p>
            <a:pPr indent="-38862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520"/>
              <a:buFont typeface="Calibri"/>
              <a:buChar char="➢"/>
            </a:pPr>
            <a:r>
              <a:rPr lang="en-IN" sz="2520"/>
              <a:t>Utilize relational tables and foreign keys to ensure data accuracy and consistency.</a:t>
            </a:r>
            <a:endParaRPr sz="2520"/>
          </a:p>
          <a:p>
            <a:pPr indent="-38862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520"/>
              <a:buFont typeface="Calibri"/>
              <a:buChar char="➢"/>
            </a:pPr>
            <a:r>
              <a:rPr lang="en-IN" sz="2520"/>
              <a:t>Streamline HR operations by automating complex payroll and leave calculations.</a:t>
            </a:r>
            <a:endParaRPr sz="2520"/>
          </a:p>
          <a:p>
            <a:pPr indent="-38862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520"/>
              <a:buFont typeface="Calibri"/>
              <a:buChar char="➢"/>
            </a:pPr>
            <a:r>
              <a:rPr lang="en-IN" sz="2520"/>
              <a:t>Provide instant, data-driven insights into department performance and organizational costs.</a:t>
            </a:r>
            <a:endParaRPr sz="2520"/>
          </a:p>
          <a:p>
            <a:pPr indent="-38862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520"/>
              <a:buFont typeface="Calibri"/>
              <a:buChar char="➢"/>
            </a:pPr>
            <a:r>
              <a:rPr lang="en-IN" sz="2520"/>
              <a:t>Enhance decision-making by making technical and financial records easily accessible.</a:t>
            </a:r>
            <a:endParaRPr sz="25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e6c498e7e_0_0"/>
          <p:cNvSpPr txBox="1"/>
          <p:nvPr>
            <p:ph type="title"/>
          </p:nvPr>
        </p:nvSpPr>
        <p:spPr>
          <a:xfrm>
            <a:off x="394225" y="143150"/>
            <a:ext cx="11251800" cy="72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IN" sz="40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Tables</a:t>
            </a:r>
            <a:endParaRPr b="1" sz="4000">
              <a:solidFill>
                <a:srgbClr val="FF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g3de6c498e7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450" y="1248925"/>
            <a:ext cx="6281250" cy="28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de6c498e7e_0_0"/>
          <p:cNvSpPr txBox="1"/>
          <p:nvPr/>
        </p:nvSpPr>
        <p:spPr>
          <a:xfrm>
            <a:off x="784350" y="685800"/>
            <a:ext cx="17658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de6c498e7e_0_0"/>
          <p:cNvSpPr txBox="1"/>
          <p:nvPr/>
        </p:nvSpPr>
        <p:spPr>
          <a:xfrm>
            <a:off x="4680273" y="4075650"/>
            <a:ext cx="13962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Leaves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g3de6c498e7e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1125" y="4669200"/>
            <a:ext cx="6488425" cy="19916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de6c498e7e_0_0"/>
          <p:cNvSpPr txBox="1"/>
          <p:nvPr/>
        </p:nvSpPr>
        <p:spPr>
          <a:xfrm>
            <a:off x="8070363" y="710775"/>
            <a:ext cx="27342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JobDepartment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g3de6c498e7e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7375" y="1438263"/>
            <a:ext cx="5200200" cy="2663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e6c498e7e_0_14"/>
          <p:cNvSpPr txBox="1"/>
          <p:nvPr>
            <p:ph type="title"/>
          </p:nvPr>
        </p:nvSpPr>
        <p:spPr>
          <a:xfrm>
            <a:off x="229975" y="115550"/>
            <a:ext cx="11662800" cy="72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IN" sz="39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Tables </a:t>
            </a:r>
            <a:endParaRPr b="1" sz="4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de6c498e7e_0_14"/>
          <p:cNvSpPr txBox="1"/>
          <p:nvPr/>
        </p:nvSpPr>
        <p:spPr>
          <a:xfrm>
            <a:off x="1107725" y="685800"/>
            <a:ext cx="17658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Payroll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de6c498e7e_0_14"/>
          <p:cNvSpPr txBox="1"/>
          <p:nvPr/>
        </p:nvSpPr>
        <p:spPr>
          <a:xfrm>
            <a:off x="4183350" y="3643213"/>
            <a:ext cx="19503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Salarybonus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de6c498e7e_0_14"/>
          <p:cNvSpPr txBox="1"/>
          <p:nvPr/>
        </p:nvSpPr>
        <p:spPr>
          <a:xfrm>
            <a:off x="7425125" y="685800"/>
            <a:ext cx="22176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Qualification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g3de6c498e7e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00" y="1298775"/>
            <a:ext cx="4882275" cy="2504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de6c498e7e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5550" y="1298775"/>
            <a:ext cx="5494450" cy="23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de6c498e7e_0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2425" y="4370725"/>
            <a:ext cx="7371325" cy="19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e7948e67e_0_42"/>
          <p:cNvSpPr txBox="1"/>
          <p:nvPr>
            <p:ph type="title"/>
          </p:nvPr>
        </p:nvSpPr>
        <p:spPr>
          <a:xfrm>
            <a:off x="4657325" y="115550"/>
            <a:ext cx="2512800" cy="75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 DIAGRAM</a:t>
            </a:r>
            <a:endParaRPr sz="6400">
              <a:solidFill>
                <a:srgbClr val="FF0000"/>
              </a:solidFill>
            </a:endParaRPr>
          </a:p>
        </p:txBody>
      </p:sp>
      <p:sp>
        <p:nvSpPr>
          <p:cNvPr id="114" name="Google Shape;114;g3de7948e67e_0_42"/>
          <p:cNvSpPr txBox="1"/>
          <p:nvPr/>
        </p:nvSpPr>
        <p:spPr>
          <a:xfrm>
            <a:off x="254400" y="744000"/>
            <a:ext cx="11802600" cy="2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FF0000"/>
                </a:solidFill>
              </a:rPr>
              <a:t>What is ER diagram ?</a:t>
            </a:r>
            <a:endParaRPr sz="2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/>
              <a:t>An ER Diagram (Entity-Relationship Diagram) in SQL is a design tool used before creating a database. It is a visual way to represent how data is organised in database. It shows each table is interlinked or connected with every individual</a:t>
            </a:r>
            <a:endParaRPr/>
          </a:p>
        </p:txBody>
      </p:sp>
      <p:pic>
        <p:nvPicPr>
          <p:cNvPr id="115" name="Google Shape;115;g3de7948e67e_0_42" title="Screenshot 2026-04-14 0104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8750" y="3190725"/>
            <a:ext cx="9178224" cy="291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e313938e2_0_8"/>
          <p:cNvSpPr txBox="1"/>
          <p:nvPr>
            <p:ph type="title"/>
          </p:nvPr>
        </p:nvSpPr>
        <p:spPr>
          <a:xfrm>
            <a:off x="4513600" y="136075"/>
            <a:ext cx="2512800" cy="75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 DIAGRAM</a:t>
            </a:r>
            <a:endParaRPr sz="6400">
              <a:solidFill>
                <a:srgbClr val="FF0000"/>
              </a:solidFill>
            </a:endParaRPr>
          </a:p>
        </p:txBody>
      </p:sp>
      <p:pic>
        <p:nvPicPr>
          <p:cNvPr id="122" name="Google Shape;122;g3de313938e2_0_8" title="Employee_Management_Project_ER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500" y="891175"/>
            <a:ext cx="11416301" cy="521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e487d57ec_0_0"/>
          <p:cNvSpPr txBox="1"/>
          <p:nvPr>
            <p:ph type="title"/>
          </p:nvPr>
        </p:nvSpPr>
        <p:spPr>
          <a:xfrm>
            <a:off x="1700550" y="418875"/>
            <a:ext cx="7789800" cy="1059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IN" sz="41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1. EMPLOYEE INSIGHTS</a:t>
            </a:r>
            <a:endParaRPr sz="4100">
              <a:solidFill>
                <a:srgbClr val="0000FF"/>
              </a:solidFill>
            </a:endParaRPr>
          </a:p>
        </p:txBody>
      </p:sp>
      <p:pic>
        <p:nvPicPr>
          <p:cNvPr id="129" name="Google Shape;129;g3de487d57e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3300" y="1478775"/>
            <a:ext cx="4754950" cy="459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de487d57ec_0_0"/>
          <p:cNvSpPr txBox="1"/>
          <p:nvPr/>
        </p:nvSpPr>
        <p:spPr>
          <a:xfrm>
            <a:off x="414775" y="1548175"/>
            <a:ext cx="706320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How many unique employees are currently in the system?</a:t>
            </a:r>
            <a:b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Which departments have the highest number of employees?</a:t>
            </a:r>
            <a:b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What is the average salary per department?</a:t>
            </a:r>
            <a:b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Who are the top 5 highest-paid employees?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e487d57ec_0_26"/>
          <p:cNvSpPr txBox="1"/>
          <p:nvPr>
            <p:ph idx="1" type="body"/>
          </p:nvPr>
        </p:nvSpPr>
        <p:spPr>
          <a:xfrm>
            <a:off x="673950" y="593650"/>
            <a:ext cx="10397400" cy="6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600"/>
              <a:buChar char="❖"/>
            </a:pPr>
            <a:r>
              <a:rPr lang="en-IN" sz="26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How many unique employees are currently in the system?</a:t>
            </a:r>
            <a:endParaRPr sz="4200">
              <a:solidFill>
                <a:srgbClr val="FF0000"/>
              </a:solidFill>
            </a:endParaRPr>
          </a:p>
        </p:txBody>
      </p:sp>
      <p:sp>
        <p:nvSpPr>
          <p:cNvPr id="137" name="Google Shape;137;g3de487d57ec_0_26"/>
          <p:cNvSpPr txBox="1"/>
          <p:nvPr/>
        </p:nvSpPr>
        <p:spPr>
          <a:xfrm>
            <a:off x="694475" y="1646950"/>
            <a:ext cx="50298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>
                <a:solidFill>
                  <a:srgbClr val="0000FF"/>
                </a:solidFill>
              </a:rPr>
              <a:t>Select</a:t>
            </a:r>
            <a:r>
              <a:rPr lang="en-IN" sz="4000">
                <a:solidFill>
                  <a:schemeClr val="dk2"/>
                </a:solidFill>
              </a:rPr>
              <a:t> </a:t>
            </a:r>
            <a:r>
              <a:rPr lang="en-IN" sz="4000">
                <a:solidFill>
                  <a:srgbClr val="0000FF"/>
                </a:solidFill>
              </a:rPr>
              <a:t>distinct </a:t>
            </a:r>
            <a:r>
              <a:rPr lang="en-IN" sz="4000"/>
              <a:t>count(*)</a:t>
            </a:r>
            <a:r>
              <a:rPr lang="en-IN" sz="4000">
                <a:solidFill>
                  <a:srgbClr val="0000FF"/>
                </a:solidFill>
              </a:rPr>
              <a:t> </a:t>
            </a:r>
            <a:r>
              <a:rPr lang="en-IN" sz="4000">
                <a:solidFill>
                  <a:schemeClr val="dk2"/>
                </a:solidFill>
              </a:rPr>
              <a:t>  </a:t>
            </a:r>
            <a:r>
              <a:rPr lang="en-IN" sz="4000">
                <a:solidFill>
                  <a:srgbClr val="0000FF"/>
                </a:solidFill>
              </a:rPr>
              <a:t>as</a:t>
            </a:r>
            <a:r>
              <a:rPr lang="en-IN" sz="4000">
                <a:solidFill>
                  <a:schemeClr val="dk2"/>
                </a:solidFill>
              </a:rPr>
              <a:t> Emp_Count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>
                <a:solidFill>
                  <a:srgbClr val="0000FF"/>
                </a:solidFill>
              </a:rPr>
              <a:t>From Employee</a:t>
            </a:r>
            <a:r>
              <a:rPr lang="en-IN" sz="4000">
                <a:solidFill>
                  <a:schemeClr val="dk2"/>
                </a:solidFill>
              </a:rPr>
              <a:t> ;</a:t>
            </a:r>
            <a:r>
              <a:rPr lang="en-IN" sz="5300">
                <a:solidFill>
                  <a:schemeClr val="dk2"/>
                </a:solidFill>
              </a:rPr>
              <a:t> </a:t>
            </a:r>
            <a:endParaRPr sz="5300">
              <a:solidFill>
                <a:schemeClr val="dk2"/>
              </a:solidFill>
            </a:endParaRPr>
          </a:p>
        </p:txBody>
      </p:sp>
      <p:pic>
        <p:nvPicPr>
          <p:cNvPr id="138" name="Google Shape;138;g3de487d57ec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3700" y="1966175"/>
            <a:ext cx="6058175" cy="225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e313938e2_0_20"/>
          <p:cNvSpPr txBox="1"/>
          <p:nvPr>
            <p:ph type="title"/>
          </p:nvPr>
        </p:nvSpPr>
        <p:spPr>
          <a:xfrm>
            <a:off x="1083925" y="499925"/>
            <a:ext cx="12192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de313938e2_0_20"/>
          <p:cNvSpPr txBox="1"/>
          <p:nvPr>
            <p:ph idx="1" type="body"/>
          </p:nvPr>
        </p:nvSpPr>
        <p:spPr>
          <a:xfrm>
            <a:off x="838200" y="678050"/>
            <a:ext cx="10684800" cy="79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417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765"/>
              <a:buChar char="❖"/>
            </a:pPr>
            <a:r>
              <a:rPr lang="en-IN" sz="2765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Which departments have the highest number of employees?</a:t>
            </a:r>
            <a:endParaRPr sz="4245">
              <a:solidFill>
                <a:srgbClr val="FF0000"/>
              </a:solidFill>
            </a:endParaRPr>
          </a:p>
        </p:txBody>
      </p:sp>
      <p:pic>
        <p:nvPicPr>
          <p:cNvPr id="146" name="Google Shape;146;g3de313938e2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75" y="1736325"/>
            <a:ext cx="4948809" cy="36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de313938e2_0_20"/>
          <p:cNvSpPr txBox="1"/>
          <p:nvPr/>
        </p:nvSpPr>
        <p:spPr>
          <a:xfrm>
            <a:off x="5018475" y="1315650"/>
            <a:ext cx="68760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400">
                <a:solidFill>
                  <a:srgbClr val="0000FF"/>
                </a:solidFill>
              </a:rPr>
              <a:t>S</a:t>
            </a:r>
            <a:r>
              <a:rPr lang="en-IN" sz="3400">
                <a:solidFill>
                  <a:srgbClr val="0000FF"/>
                </a:solidFill>
              </a:rPr>
              <a:t>elect</a:t>
            </a:r>
            <a:r>
              <a:rPr lang="en-IN" sz="3400"/>
              <a:t> j.jobdept,</a:t>
            </a:r>
            <a:endParaRPr sz="3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400">
                <a:solidFill>
                  <a:srgbClr val="0000FF"/>
                </a:solidFill>
              </a:rPr>
              <a:t>round</a:t>
            </a:r>
            <a:r>
              <a:rPr lang="en-IN" sz="3400"/>
              <a:t>(avg(p.total_amount),2) </a:t>
            </a:r>
            <a:r>
              <a:rPr lang="en-IN" sz="3400">
                <a:solidFill>
                  <a:srgbClr val="0000FF"/>
                </a:solidFill>
              </a:rPr>
              <a:t>as</a:t>
            </a:r>
            <a:r>
              <a:rPr lang="en-IN" sz="3400"/>
              <a:t> avg_salary</a:t>
            </a:r>
            <a:endParaRPr sz="3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400">
                <a:solidFill>
                  <a:srgbClr val="0000FF"/>
                </a:solidFill>
              </a:rPr>
              <a:t>from</a:t>
            </a:r>
            <a:r>
              <a:rPr lang="en-IN" sz="3400"/>
              <a:t> jobdepartment j </a:t>
            </a:r>
            <a:endParaRPr sz="3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400">
                <a:solidFill>
                  <a:srgbClr val="0000FF"/>
                </a:solidFill>
              </a:rPr>
              <a:t>join</a:t>
            </a:r>
            <a:r>
              <a:rPr lang="en-IN" sz="3400"/>
              <a:t> payroll p </a:t>
            </a:r>
            <a:endParaRPr sz="3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400">
                <a:solidFill>
                  <a:srgbClr val="0000FF"/>
                </a:solidFill>
              </a:rPr>
              <a:t>on</a:t>
            </a:r>
            <a:r>
              <a:rPr lang="en-IN" sz="3400"/>
              <a:t> p.job_id = j.job_id</a:t>
            </a:r>
            <a:endParaRPr sz="3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400">
                <a:solidFill>
                  <a:srgbClr val="0000FF"/>
                </a:solidFill>
              </a:rPr>
              <a:t>group by</a:t>
            </a:r>
            <a:r>
              <a:rPr lang="en-IN" sz="3400"/>
              <a:t> jobdept</a:t>
            </a:r>
            <a:endParaRPr sz="3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400">
                <a:solidFill>
                  <a:srgbClr val="0000FF"/>
                </a:solidFill>
              </a:rPr>
              <a:t>Limit</a:t>
            </a:r>
            <a:r>
              <a:rPr lang="en-IN" sz="3400"/>
              <a:t> 3;</a:t>
            </a:r>
            <a:endParaRPr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e313938e2_0_26"/>
          <p:cNvSpPr txBox="1"/>
          <p:nvPr>
            <p:ph type="title"/>
          </p:nvPr>
        </p:nvSpPr>
        <p:spPr>
          <a:xfrm>
            <a:off x="838200" y="365125"/>
            <a:ext cx="10515600" cy="87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4178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765"/>
              <a:buFont typeface="Arial"/>
              <a:buChar char="❖"/>
            </a:pPr>
            <a:r>
              <a:rPr lang="en-IN" sz="2765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What is the average salary per department?</a:t>
            </a:r>
            <a:endParaRPr sz="3960"/>
          </a:p>
        </p:txBody>
      </p:sp>
      <p:pic>
        <p:nvPicPr>
          <p:cNvPr id="154" name="Google Shape;154;g3de313938e2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6725" y="1370725"/>
            <a:ext cx="4761450" cy="41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de313938e2_0_26"/>
          <p:cNvSpPr txBox="1"/>
          <p:nvPr/>
        </p:nvSpPr>
        <p:spPr>
          <a:xfrm>
            <a:off x="181575" y="1638625"/>
            <a:ext cx="62805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rgbClr val="0000FF"/>
                </a:solidFill>
              </a:rPr>
              <a:t>S</a:t>
            </a:r>
            <a:r>
              <a:rPr lang="en-IN" sz="3200">
                <a:solidFill>
                  <a:srgbClr val="0000FF"/>
                </a:solidFill>
              </a:rPr>
              <a:t>elect</a:t>
            </a:r>
            <a:r>
              <a:rPr lang="en-IN" sz="3200"/>
              <a:t> j.jobdept,</a:t>
            </a:r>
            <a:endParaRPr sz="3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/>
              <a:t>round(avg(p.total_amount),2) </a:t>
            </a:r>
            <a:r>
              <a:rPr lang="en-IN" sz="3200">
                <a:solidFill>
                  <a:srgbClr val="0000FF"/>
                </a:solidFill>
              </a:rPr>
              <a:t>as </a:t>
            </a:r>
            <a:r>
              <a:rPr lang="en-IN" sz="3200"/>
              <a:t>avg_salary</a:t>
            </a:r>
            <a:endParaRPr sz="3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rgbClr val="0000FF"/>
                </a:solidFill>
              </a:rPr>
              <a:t>from</a:t>
            </a:r>
            <a:r>
              <a:rPr lang="en-IN" sz="3200"/>
              <a:t> jobdepartment j </a:t>
            </a:r>
            <a:endParaRPr sz="3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rgbClr val="0000FF"/>
                </a:solidFill>
              </a:rPr>
              <a:t>join</a:t>
            </a:r>
            <a:r>
              <a:rPr lang="en-IN" sz="3200"/>
              <a:t> payroll p </a:t>
            </a:r>
            <a:endParaRPr sz="3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rgbClr val="0000FF"/>
                </a:solidFill>
              </a:rPr>
              <a:t>on</a:t>
            </a:r>
            <a:r>
              <a:rPr lang="en-IN" sz="3200"/>
              <a:t> p.job_id = j.job_id</a:t>
            </a:r>
            <a:endParaRPr sz="3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rgbClr val="0000FF"/>
                </a:solidFill>
              </a:rPr>
              <a:t>group by</a:t>
            </a:r>
            <a:r>
              <a:rPr lang="en-IN" sz="3200"/>
              <a:t> jobdept;</a:t>
            </a:r>
            <a:endParaRPr sz="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e313938e2_0_32"/>
          <p:cNvSpPr txBox="1"/>
          <p:nvPr>
            <p:ph type="title"/>
          </p:nvPr>
        </p:nvSpPr>
        <p:spPr>
          <a:xfrm>
            <a:off x="838200" y="275150"/>
            <a:ext cx="10515600" cy="677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417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765"/>
              <a:buFont typeface="Arial"/>
              <a:buChar char="❖"/>
            </a:pPr>
            <a:r>
              <a:rPr lang="en-IN" sz="2765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Who are the top 5 highest-paid employees?</a:t>
            </a:r>
            <a:endParaRPr sz="2765">
              <a:solidFill>
                <a:srgbClr val="FF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3de313938e2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350" y="1274038"/>
            <a:ext cx="5638700" cy="46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de313938e2_0_32"/>
          <p:cNvSpPr txBox="1"/>
          <p:nvPr/>
        </p:nvSpPr>
        <p:spPr>
          <a:xfrm>
            <a:off x="6403925" y="1468086"/>
            <a:ext cx="5530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>
                <a:solidFill>
                  <a:srgbClr val="0000FF"/>
                </a:solidFill>
              </a:rPr>
              <a:t>select</a:t>
            </a:r>
            <a:r>
              <a:rPr lang="en-IN" sz="3300"/>
              <a:t>   e.firstname,e.lastname ,p.total_amount </a:t>
            </a:r>
            <a:endParaRPr sz="3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>
                <a:solidFill>
                  <a:srgbClr val="0000FF"/>
                </a:solidFill>
              </a:rPr>
              <a:t>from </a:t>
            </a:r>
            <a:r>
              <a:rPr lang="en-IN" sz="3300"/>
              <a:t>employee e </a:t>
            </a:r>
            <a:endParaRPr sz="3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>
                <a:solidFill>
                  <a:srgbClr val="0000FF"/>
                </a:solidFill>
              </a:rPr>
              <a:t>join</a:t>
            </a:r>
            <a:r>
              <a:rPr lang="en-IN" sz="3300"/>
              <a:t> payroll p </a:t>
            </a:r>
            <a:endParaRPr sz="3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/>
              <a:t>on p.emp_id = e.emp_id </a:t>
            </a:r>
            <a:endParaRPr sz="3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>
                <a:solidFill>
                  <a:srgbClr val="0000FF"/>
                </a:solidFill>
              </a:rPr>
              <a:t>order by</a:t>
            </a:r>
            <a:r>
              <a:rPr lang="en-IN" sz="3300"/>
              <a:t> total_amount desc </a:t>
            </a:r>
            <a:endParaRPr sz="3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/>
              <a:t>limit 5 ;</a:t>
            </a:r>
            <a:endParaRPr sz="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e313938e2_0_56"/>
          <p:cNvSpPr txBox="1"/>
          <p:nvPr>
            <p:ph type="title"/>
          </p:nvPr>
        </p:nvSpPr>
        <p:spPr>
          <a:xfrm>
            <a:off x="486825" y="357275"/>
            <a:ext cx="11303100" cy="1232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41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2. JOB ROLE AND DEPARTMENT ANALYSIS</a:t>
            </a:r>
            <a:endParaRPr b="1" sz="4100">
              <a:solidFill>
                <a:srgbClr val="00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g3de313938e2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19975"/>
            <a:ext cx="5318025" cy="45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de313938e2_0_56"/>
          <p:cNvSpPr txBox="1"/>
          <p:nvPr/>
        </p:nvSpPr>
        <p:spPr>
          <a:xfrm>
            <a:off x="5363200" y="2020450"/>
            <a:ext cx="6828900" cy="3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How many different job roles exist in each department?</a:t>
            </a:r>
            <a:b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Which Dept,job role has more than 50000 of salary?</a:t>
            </a:r>
            <a:b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Which job roles offer the highest salary?</a:t>
            </a:r>
            <a:b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Which departments have the highest total salary allocation?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e487d57ec_0_20"/>
          <p:cNvSpPr txBox="1"/>
          <p:nvPr>
            <p:ph idx="1" type="body"/>
          </p:nvPr>
        </p:nvSpPr>
        <p:spPr>
          <a:xfrm>
            <a:off x="838200" y="798975"/>
            <a:ext cx="10749900" cy="996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700"/>
              <a:buChar char="❖"/>
            </a:pPr>
            <a:r>
              <a:rPr lang="en-IN" sz="27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How many different job roles exist in each department?</a:t>
            </a:r>
            <a:endParaRPr sz="4300">
              <a:solidFill>
                <a:srgbClr val="FF0000"/>
              </a:solidFill>
            </a:endParaRPr>
          </a:p>
        </p:txBody>
      </p:sp>
      <p:pic>
        <p:nvPicPr>
          <p:cNvPr id="178" name="Google Shape;178;g3de487d57ec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75" y="1619750"/>
            <a:ext cx="5607375" cy="43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de487d57ec_0_20"/>
          <p:cNvSpPr txBox="1"/>
          <p:nvPr/>
        </p:nvSpPr>
        <p:spPr>
          <a:xfrm>
            <a:off x="6149575" y="1795575"/>
            <a:ext cx="5789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>
                <a:solidFill>
                  <a:srgbClr val="0000FF"/>
                </a:solidFill>
              </a:rPr>
              <a:t>select </a:t>
            </a:r>
            <a:r>
              <a:rPr lang="en-IN" sz="3300"/>
              <a:t>Jobdept , </a:t>
            </a:r>
            <a:endParaRPr sz="3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/>
              <a:t>count(distinct name) </a:t>
            </a:r>
            <a:r>
              <a:rPr lang="en-IN" sz="3300">
                <a:solidFill>
                  <a:srgbClr val="0000FF"/>
                </a:solidFill>
              </a:rPr>
              <a:t>as</a:t>
            </a:r>
            <a:r>
              <a:rPr lang="en-IN" sz="3300"/>
              <a:t> Distinct_job_role_count </a:t>
            </a:r>
            <a:endParaRPr sz="3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>
                <a:solidFill>
                  <a:srgbClr val="0000FF"/>
                </a:solidFill>
              </a:rPr>
              <a:t>from </a:t>
            </a:r>
            <a:r>
              <a:rPr lang="en-IN" sz="3300"/>
              <a:t>jobdepartment </a:t>
            </a:r>
            <a:endParaRPr sz="3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>
                <a:solidFill>
                  <a:srgbClr val="0000FF"/>
                </a:solidFill>
              </a:rPr>
              <a:t>group by </a:t>
            </a:r>
            <a:r>
              <a:rPr lang="en-IN" sz="3300"/>
              <a:t>jobdept</a:t>
            </a:r>
            <a:endParaRPr sz="3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>
                <a:solidFill>
                  <a:srgbClr val="0000FF"/>
                </a:solidFill>
              </a:rPr>
              <a:t>order by </a:t>
            </a:r>
            <a:r>
              <a:rPr lang="en-IN" sz="3300"/>
              <a:t>Distinct_job_role_count desc 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e313938e2_0_38"/>
          <p:cNvSpPr txBox="1"/>
          <p:nvPr>
            <p:ph type="title"/>
          </p:nvPr>
        </p:nvSpPr>
        <p:spPr>
          <a:xfrm>
            <a:off x="838200" y="262475"/>
            <a:ext cx="10515600" cy="1018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25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3100"/>
              <a:buFont typeface="Arial"/>
              <a:buChar char="❖"/>
            </a:pPr>
            <a:r>
              <a:rPr lang="en-IN" sz="3100">
                <a:solidFill>
                  <a:srgbClr val="FF0000"/>
                </a:solidFill>
                <a:highlight>
                  <a:schemeClr val="lt1"/>
                </a:highlight>
              </a:rPr>
              <a:t>Which Dept,job role has more than 50000 of salary?</a:t>
            </a:r>
            <a:endParaRPr sz="5400">
              <a:solidFill>
                <a:srgbClr val="FF0000"/>
              </a:solidFill>
            </a:endParaRPr>
          </a:p>
        </p:txBody>
      </p:sp>
      <p:sp>
        <p:nvSpPr>
          <p:cNvPr id="186" name="Google Shape;186;g3de313938e2_0_38"/>
          <p:cNvSpPr txBox="1"/>
          <p:nvPr/>
        </p:nvSpPr>
        <p:spPr>
          <a:xfrm>
            <a:off x="282850" y="1787250"/>
            <a:ext cx="64323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rgbClr val="0000FF"/>
                </a:solidFill>
              </a:rPr>
              <a:t> </a:t>
            </a:r>
            <a:r>
              <a:rPr lang="en-IN" sz="2500">
                <a:solidFill>
                  <a:srgbClr val="0000FF"/>
                </a:solidFill>
              </a:rPr>
              <a:t>select</a:t>
            </a:r>
            <a:r>
              <a:rPr lang="en-IN" sz="2500"/>
              <a:t>  jobdept,name as job_role ,amount 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 from</a:t>
            </a:r>
            <a:r>
              <a:rPr lang="en-IN" sz="2500"/>
              <a:t> jobdepartment j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/>
              <a:t> </a:t>
            </a:r>
            <a:r>
              <a:rPr lang="en-IN" sz="2500">
                <a:solidFill>
                  <a:srgbClr val="0000FF"/>
                </a:solidFill>
              </a:rPr>
              <a:t>join</a:t>
            </a:r>
            <a:r>
              <a:rPr lang="en-IN" sz="2500"/>
              <a:t> salarybonus s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/>
              <a:t> </a:t>
            </a:r>
            <a:r>
              <a:rPr lang="en-IN" sz="2500">
                <a:solidFill>
                  <a:srgbClr val="0000FF"/>
                </a:solidFill>
              </a:rPr>
              <a:t>on</a:t>
            </a:r>
            <a:r>
              <a:rPr lang="en-IN" sz="2500"/>
              <a:t> s.job_id = j.job_id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/>
              <a:t> where amount &gt; 50000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 group by</a:t>
            </a:r>
            <a:r>
              <a:rPr lang="en-IN" sz="2500"/>
              <a:t> jobdept;</a:t>
            </a:r>
            <a:endParaRPr sz="2500"/>
          </a:p>
        </p:txBody>
      </p:sp>
      <p:pic>
        <p:nvPicPr>
          <p:cNvPr id="187" name="Google Shape;187;g3de313938e2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175" y="1256100"/>
            <a:ext cx="5462000" cy="434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e313938e2_0_6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25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3100"/>
              <a:buFont typeface="Arial"/>
              <a:buChar char="❖"/>
            </a:pPr>
            <a:r>
              <a:rPr lang="en-IN" sz="3100">
                <a:solidFill>
                  <a:srgbClr val="FF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Which job roles offer the highest salary?</a:t>
            </a:r>
            <a:endParaRPr sz="3100">
              <a:solidFill>
                <a:srgbClr val="FF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g3de313938e2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00" y="1486575"/>
            <a:ext cx="6011575" cy="453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de313938e2_0_62"/>
          <p:cNvSpPr txBox="1"/>
          <p:nvPr/>
        </p:nvSpPr>
        <p:spPr>
          <a:xfrm>
            <a:off x="6653100" y="2182200"/>
            <a:ext cx="47007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SELECT </a:t>
            </a:r>
            <a:endParaRPr sz="2500">
              <a:solidFill>
                <a:srgbClr val="00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/>
              <a:t>    name as Job_Role,salaryrange</a:t>
            </a:r>
            <a:endParaRPr sz="2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FROM</a:t>
            </a:r>
            <a:r>
              <a:rPr lang="en-IN" sz="2500"/>
              <a:t> jobdepartment</a:t>
            </a:r>
            <a:endParaRPr sz="2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GROUP BY</a:t>
            </a:r>
            <a:r>
              <a:rPr lang="en-IN" sz="2500"/>
              <a:t> jobdept</a:t>
            </a:r>
            <a:endParaRPr sz="2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/>
              <a:t>order by salaryrange desc;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e313938e2_0_68"/>
          <p:cNvSpPr txBox="1"/>
          <p:nvPr>
            <p:ph type="title"/>
          </p:nvPr>
        </p:nvSpPr>
        <p:spPr>
          <a:xfrm>
            <a:off x="365950" y="200900"/>
            <a:ext cx="11157300" cy="1224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25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3100"/>
              <a:buFont typeface="Arial"/>
              <a:buChar char="❖"/>
            </a:pPr>
            <a:r>
              <a:rPr lang="en-IN" sz="3100">
                <a:solidFill>
                  <a:srgbClr val="FF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Which departments have the highest total salary allocation?</a:t>
            </a:r>
            <a:endParaRPr sz="3100">
              <a:solidFill>
                <a:srgbClr val="FF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g3de313938e2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9825" y="1256800"/>
            <a:ext cx="6303650" cy="470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de313938e2_0_68"/>
          <p:cNvSpPr txBox="1"/>
          <p:nvPr/>
        </p:nvSpPr>
        <p:spPr>
          <a:xfrm>
            <a:off x="747225" y="2105963"/>
            <a:ext cx="37806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SELECT</a:t>
            </a:r>
            <a:r>
              <a:rPr lang="en-IN" sz="2500"/>
              <a:t> </a:t>
            </a:r>
            <a:endParaRPr sz="2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/>
              <a:t>    jobdept,salaryrange</a:t>
            </a:r>
            <a:endParaRPr sz="2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FROM</a:t>
            </a:r>
            <a:r>
              <a:rPr lang="en-IN" sz="2500"/>
              <a:t> jobdepartment</a:t>
            </a:r>
            <a:endParaRPr sz="2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GROUP BY</a:t>
            </a:r>
            <a:r>
              <a:rPr lang="en-IN" sz="2500"/>
              <a:t> jobdept</a:t>
            </a:r>
            <a:endParaRPr sz="2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order by </a:t>
            </a:r>
            <a:r>
              <a:rPr lang="en-IN" sz="2500"/>
              <a:t>salaryrange desc;</a:t>
            </a:r>
            <a:endParaRPr sz="2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e313938e2_0_74"/>
          <p:cNvSpPr txBox="1"/>
          <p:nvPr>
            <p:ph type="title"/>
          </p:nvPr>
        </p:nvSpPr>
        <p:spPr>
          <a:xfrm>
            <a:off x="394225" y="254225"/>
            <a:ext cx="10959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41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3. QUALIFICATION AND SKILLS ANALYSIS</a:t>
            </a:r>
            <a:endParaRPr sz="5000"/>
          </a:p>
        </p:txBody>
      </p:sp>
      <p:pic>
        <p:nvPicPr>
          <p:cNvPr id="210" name="Google Shape;210;g3de313938e2_0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250" y="1579925"/>
            <a:ext cx="5441250" cy="40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de313938e2_0_74"/>
          <p:cNvSpPr txBox="1"/>
          <p:nvPr/>
        </p:nvSpPr>
        <p:spPr>
          <a:xfrm>
            <a:off x="394225" y="1774050"/>
            <a:ext cx="6488400" cy="43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IN" sz="2300">
                <a:solidFill>
                  <a:schemeClr val="dk1"/>
                </a:solidFill>
                <a:highlight>
                  <a:srgbClr val="FFFFFF"/>
                </a:highlight>
              </a:rPr>
              <a:t>How many employees have at least one qualification listed?</a:t>
            </a:r>
            <a:br>
              <a:rPr lang="en-IN" sz="23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IN" sz="2300">
                <a:solidFill>
                  <a:schemeClr val="dk1"/>
                </a:solidFill>
                <a:highlight>
                  <a:srgbClr val="FFFFFF"/>
                </a:highlight>
              </a:rPr>
              <a:t>Which positions require the most qualifications?</a:t>
            </a:r>
            <a:br>
              <a:rPr lang="en-IN" sz="23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IN" sz="2300">
                <a:solidFill>
                  <a:schemeClr val="dk1"/>
                </a:solidFill>
                <a:highlight>
                  <a:srgbClr val="FFFFFF"/>
                </a:highlight>
              </a:rPr>
              <a:t>Which employees have the highest number of qualifications?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e487d57ec_0_14"/>
          <p:cNvSpPr txBox="1"/>
          <p:nvPr>
            <p:ph idx="1" type="body"/>
          </p:nvPr>
        </p:nvSpPr>
        <p:spPr>
          <a:xfrm>
            <a:off x="662900" y="685675"/>
            <a:ext cx="10684800" cy="82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410686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Char char="❖"/>
            </a:pPr>
            <a:r>
              <a:rPr lang="en-IN" sz="3100">
                <a:solidFill>
                  <a:srgbClr val="FF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How many employees have at least one qualification listed? </a:t>
            </a:r>
            <a:endParaRPr sz="3100">
              <a:solidFill>
                <a:srgbClr val="FF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g3de487d57ec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2825" y="3722475"/>
            <a:ext cx="5174300" cy="162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de487d57ec_0_14"/>
          <p:cNvSpPr txBox="1"/>
          <p:nvPr/>
        </p:nvSpPr>
        <p:spPr>
          <a:xfrm>
            <a:off x="2774225" y="1753325"/>
            <a:ext cx="6012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SELECT </a:t>
            </a:r>
            <a:endParaRPr sz="2500">
              <a:solidFill>
                <a:srgbClr val="00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/>
              <a:t>COUNT(DISTINCT Emp_ID) </a:t>
            </a:r>
            <a:r>
              <a:rPr lang="en-IN" sz="2500">
                <a:solidFill>
                  <a:srgbClr val="0000FF"/>
                </a:solidFill>
              </a:rPr>
              <a:t>AS </a:t>
            </a:r>
            <a:r>
              <a:rPr lang="en-IN" sz="2500"/>
              <a:t>Total_Employees_With_Qualifications</a:t>
            </a:r>
            <a:endParaRPr sz="2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FROM</a:t>
            </a:r>
            <a:r>
              <a:rPr lang="en-IN" sz="2500"/>
              <a:t> Qualification</a:t>
            </a:r>
            <a:r>
              <a:rPr lang="en-IN"/>
              <a:t>;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e313938e2_0_8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❖"/>
            </a:pPr>
            <a:r>
              <a:rPr lang="en-IN" sz="3100">
                <a:solidFill>
                  <a:srgbClr val="FF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Which positions require the most qualifications?</a:t>
            </a:r>
            <a:endParaRPr sz="5300"/>
          </a:p>
        </p:txBody>
      </p:sp>
      <p:pic>
        <p:nvPicPr>
          <p:cNvPr id="226" name="Google Shape;226;g3de313938e2_0_80"/>
          <p:cNvPicPr preferRelativeResize="0"/>
          <p:nvPr/>
        </p:nvPicPr>
        <p:blipFill rotWithShape="1">
          <a:blip r:embed="rId3">
            <a:alphaModFix/>
          </a:blip>
          <a:srcRect b="2480" l="2670" r="-2670" t="-2480"/>
          <a:stretch/>
        </p:blipFill>
        <p:spPr>
          <a:xfrm>
            <a:off x="116950" y="1309700"/>
            <a:ext cx="5473250" cy="501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de313938e2_0_80"/>
          <p:cNvSpPr txBox="1"/>
          <p:nvPr/>
        </p:nvSpPr>
        <p:spPr>
          <a:xfrm>
            <a:off x="6196375" y="2347425"/>
            <a:ext cx="58413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SELECT</a:t>
            </a:r>
            <a:r>
              <a:rPr lang="en-IN" sz="2500"/>
              <a:t> Position,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/>
              <a:t>COUNT(*) AS Qualification_Count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FROM </a:t>
            </a:r>
            <a:r>
              <a:rPr lang="en-IN" sz="2500"/>
              <a:t>Qualification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GROUP BY</a:t>
            </a:r>
            <a:r>
              <a:rPr lang="en-IN" sz="2500">
                <a:solidFill>
                  <a:schemeClr val="accent2"/>
                </a:solidFill>
              </a:rPr>
              <a:t> Position</a:t>
            </a:r>
            <a:endParaRPr sz="25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ORDER BY</a:t>
            </a:r>
            <a:r>
              <a:rPr lang="en-IN" sz="2500"/>
              <a:t> Qualification_Count DESC;</a:t>
            </a:r>
            <a:endParaRPr sz="2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e313938e2_0_86"/>
          <p:cNvSpPr txBox="1"/>
          <p:nvPr>
            <p:ph idx="1" type="body"/>
          </p:nvPr>
        </p:nvSpPr>
        <p:spPr>
          <a:xfrm>
            <a:off x="838200" y="408850"/>
            <a:ext cx="10515600" cy="76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9306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ct val="90323"/>
              <a:buChar char="❖"/>
            </a:pPr>
            <a:r>
              <a:rPr lang="en-IN" sz="3100">
                <a:solidFill>
                  <a:srgbClr val="FF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Which employees have the highest number of qualifications?</a:t>
            </a:r>
            <a:endParaRPr sz="3100">
              <a:solidFill>
                <a:srgbClr val="FF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g3de313938e2_0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5375" y="1894038"/>
            <a:ext cx="5058050" cy="3069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de313938e2_0_86"/>
          <p:cNvSpPr txBox="1"/>
          <p:nvPr/>
        </p:nvSpPr>
        <p:spPr>
          <a:xfrm>
            <a:off x="553650" y="1870825"/>
            <a:ext cx="53133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SELECT </a:t>
            </a:r>
            <a:r>
              <a:rPr lang="en-IN" sz="2500"/>
              <a:t>Emp_ID, 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/>
              <a:t>COUNT(*) AS Qualification_Count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FROM </a:t>
            </a:r>
            <a:r>
              <a:rPr lang="en-IN" sz="2500">
                <a:solidFill>
                  <a:schemeClr val="accent2"/>
                </a:solidFill>
              </a:rPr>
              <a:t>Qualification</a:t>
            </a:r>
            <a:endParaRPr sz="25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GROUP BY</a:t>
            </a:r>
            <a:r>
              <a:rPr lang="en-IN" sz="2500"/>
              <a:t> Emp_ID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ORDER BY </a:t>
            </a:r>
            <a:r>
              <a:rPr lang="en-IN" sz="2500"/>
              <a:t>Qualification_Count DESC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LIMIT 5; </a:t>
            </a:r>
            <a:endParaRPr sz="25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e313938e2_0_9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41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4. LEAVE AND ABSENCE PATTERNS</a:t>
            </a:r>
            <a:endParaRPr sz="4100">
              <a:solidFill>
                <a:srgbClr val="0000FF"/>
              </a:solidFill>
            </a:endParaRPr>
          </a:p>
        </p:txBody>
      </p:sp>
      <p:sp>
        <p:nvSpPr>
          <p:cNvPr id="242" name="Google Shape;242;g3de313938e2_0_92"/>
          <p:cNvSpPr txBox="1"/>
          <p:nvPr>
            <p:ph idx="1" type="body"/>
          </p:nvPr>
        </p:nvSpPr>
        <p:spPr>
          <a:xfrm>
            <a:off x="4439225" y="1809625"/>
            <a:ext cx="7617600" cy="404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8374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74"/>
              <a:buFont typeface="Arial"/>
              <a:buChar char="●"/>
            </a:pPr>
            <a:r>
              <a:rPr lang="en-IN" sz="2674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Identify years with the highest leave frequency to spot seasonal trends.</a:t>
            </a:r>
            <a:endParaRPr sz="2674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8374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74"/>
              <a:buChar char="●"/>
            </a:pPr>
            <a:r>
              <a:rPr lang="en-IN" sz="2674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Calculate average leave days per department to assess workload distribution.</a:t>
            </a:r>
            <a:endParaRPr sz="2674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8374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74"/>
              <a:buChar char="●"/>
            </a:pPr>
            <a:r>
              <a:rPr lang="en-IN" sz="2674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Track employees with the most frequent absences for HR review.</a:t>
            </a:r>
            <a:endParaRPr sz="2674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8374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74"/>
              <a:buChar char="●"/>
            </a:pPr>
            <a:r>
              <a:rPr lang="en-IN" sz="2674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Measure the total volume of leave days taken across the entire company.</a:t>
            </a:r>
            <a:endParaRPr sz="2674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g3de313938e2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975" y="1544325"/>
            <a:ext cx="4106575" cy="457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e313938e2_0_98"/>
          <p:cNvSpPr txBox="1"/>
          <p:nvPr>
            <p:ph idx="1" type="body"/>
          </p:nvPr>
        </p:nvSpPr>
        <p:spPr>
          <a:xfrm>
            <a:off x="804900" y="285675"/>
            <a:ext cx="10582200" cy="89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800"/>
              <a:buChar char="❖"/>
            </a:pPr>
            <a:r>
              <a:rPr lang="en-IN" sz="3100">
                <a:solidFill>
                  <a:srgbClr val="FF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Which year had the most employees taking leaves?</a:t>
            </a:r>
            <a:endParaRPr sz="3100">
              <a:solidFill>
                <a:srgbClr val="FF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g3de313938e2_0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476" y="1386900"/>
            <a:ext cx="5304700" cy="381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de313938e2_0_98"/>
          <p:cNvSpPr txBox="1"/>
          <p:nvPr/>
        </p:nvSpPr>
        <p:spPr>
          <a:xfrm>
            <a:off x="6513450" y="1763838"/>
            <a:ext cx="50277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select </a:t>
            </a:r>
            <a:r>
              <a:rPr lang="en-IN" sz="2500"/>
              <a:t>month(date) as Month_ , 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/>
              <a:t>monthname(date) as month_name, 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/>
              <a:t>count(leave_id) as Emp_count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from </a:t>
            </a:r>
            <a:r>
              <a:rPr lang="en-IN" sz="2500"/>
              <a:t>leaves 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group by</a:t>
            </a:r>
            <a:r>
              <a:rPr lang="en-IN" sz="2500"/>
              <a:t> month(date) 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order by </a:t>
            </a:r>
            <a:r>
              <a:rPr lang="en-IN" sz="2500"/>
              <a:t>Emp_count desc;</a:t>
            </a:r>
            <a:endParaRPr sz="2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e487d57ec_0_32"/>
          <p:cNvSpPr txBox="1"/>
          <p:nvPr>
            <p:ph idx="1" type="body"/>
          </p:nvPr>
        </p:nvSpPr>
        <p:spPr>
          <a:xfrm>
            <a:off x="0" y="398325"/>
            <a:ext cx="11831100" cy="82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400"/>
              <a:buChar char="❖"/>
            </a:pPr>
            <a:r>
              <a:rPr lang="en-IN" sz="24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What is the average number of leave days taken by its employees per department?</a:t>
            </a:r>
            <a:endParaRPr sz="3600">
              <a:solidFill>
                <a:srgbClr val="FF0000"/>
              </a:solidFill>
            </a:endParaRPr>
          </a:p>
        </p:txBody>
      </p:sp>
      <p:pic>
        <p:nvPicPr>
          <p:cNvPr id="258" name="Google Shape;258;g3de487d57ec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0425" y="1275100"/>
            <a:ext cx="5330750" cy="459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de487d57ec_0_32"/>
          <p:cNvSpPr txBox="1"/>
          <p:nvPr/>
        </p:nvSpPr>
        <p:spPr>
          <a:xfrm>
            <a:off x="465250" y="1574925"/>
            <a:ext cx="5892900" cy="39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SELECT</a:t>
            </a:r>
            <a:r>
              <a:rPr lang="en-IN" sz="2500">
                <a:solidFill>
                  <a:schemeClr val="dk2"/>
                </a:solidFill>
              </a:rPr>
              <a:t> j.JobDept,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chemeClr val="dk2"/>
                </a:solidFill>
              </a:rPr>
              <a:t>COUNT(l.leave_id) / COUNT(DISTINCT e.emp_id)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chemeClr val="dk2"/>
                </a:solidFill>
              </a:rPr>
              <a:t>AS Avg_Leave_Days_Per_Employee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FROM</a:t>
            </a:r>
            <a:r>
              <a:rPr lang="en-IN" sz="2500">
                <a:solidFill>
                  <a:schemeClr val="dk2"/>
                </a:solidFill>
              </a:rPr>
              <a:t> jobdepartment j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JOIN </a:t>
            </a:r>
            <a:r>
              <a:rPr lang="en-IN" sz="2500">
                <a:solidFill>
                  <a:schemeClr val="dk2"/>
                </a:solidFill>
              </a:rPr>
              <a:t>employee e ON j.Job_ID = e.job_id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LEFT JOIN </a:t>
            </a:r>
            <a:r>
              <a:rPr lang="en-IN" sz="2500">
                <a:solidFill>
                  <a:schemeClr val="dk2"/>
                </a:solidFill>
              </a:rPr>
              <a:t>leaves l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ON </a:t>
            </a:r>
            <a:r>
              <a:rPr lang="en-IN" sz="2500">
                <a:solidFill>
                  <a:schemeClr val="dk2"/>
                </a:solidFill>
              </a:rPr>
              <a:t>e.emp_id = l.emp_id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GROUP BY</a:t>
            </a:r>
            <a:r>
              <a:rPr lang="en-IN" sz="2500">
                <a:solidFill>
                  <a:schemeClr val="dk2"/>
                </a:solidFill>
              </a:rPr>
              <a:t> j.JobDept;</a:t>
            </a:r>
            <a:endParaRPr sz="2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e313938e2_0_104"/>
          <p:cNvSpPr txBox="1"/>
          <p:nvPr>
            <p:ph idx="1" type="body"/>
          </p:nvPr>
        </p:nvSpPr>
        <p:spPr>
          <a:xfrm>
            <a:off x="975750" y="331775"/>
            <a:ext cx="10664400" cy="8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3300"/>
              <a:buChar char="❖"/>
            </a:pPr>
            <a:r>
              <a:rPr lang="en-IN" sz="33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Which employees have taken the most leaves?</a:t>
            </a:r>
            <a:endParaRPr sz="4300">
              <a:solidFill>
                <a:srgbClr val="FF0000"/>
              </a:solidFill>
            </a:endParaRPr>
          </a:p>
        </p:txBody>
      </p:sp>
      <p:pic>
        <p:nvPicPr>
          <p:cNvPr id="266" name="Google Shape;266;g3de313938e2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96950"/>
            <a:ext cx="4788275" cy="473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de313938e2_0_104"/>
          <p:cNvSpPr txBox="1"/>
          <p:nvPr/>
        </p:nvSpPr>
        <p:spPr>
          <a:xfrm>
            <a:off x="5514450" y="1603875"/>
            <a:ext cx="7033500" cy="41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chemeClr val="dk2"/>
                </a:solidFill>
              </a:rPr>
              <a:t> </a:t>
            </a:r>
            <a:r>
              <a:rPr lang="en-IN" sz="2500">
                <a:solidFill>
                  <a:srgbClr val="0000FF"/>
                </a:solidFill>
              </a:rPr>
              <a:t>select</a:t>
            </a:r>
            <a:r>
              <a:rPr lang="en-IN" sz="2500">
                <a:solidFill>
                  <a:schemeClr val="dk2"/>
                </a:solidFill>
              </a:rPr>
              <a:t> e.emp_id ,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chemeClr val="dk2"/>
                </a:solidFill>
              </a:rPr>
              <a:t>concat_ws(' ',firstname,lastname) as full_name , </a:t>
            </a:r>
            <a:endParaRPr sz="25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chemeClr val="dk2"/>
                </a:solidFill>
              </a:rPr>
              <a:t>count(leave_id) as leaves_count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0000FF"/>
                </a:solidFill>
              </a:rPr>
              <a:t>from</a:t>
            </a:r>
            <a:r>
              <a:rPr lang="en-IN" sz="2500">
                <a:solidFill>
                  <a:schemeClr val="dk2"/>
                </a:solidFill>
              </a:rPr>
              <a:t> employee e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join </a:t>
            </a:r>
            <a:r>
              <a:rPr lang="en-IN" sz="2500">
                <a:solidFill>
                  <a:schemeClr val="dk2"/>
                </a:solidFill>
              </a:rPr>
              <a:t>leaves l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chemeClr val="dk2"/>
                </a:solidFill>
              </a:rPr>
              <a:t>on e.emp_id = l.emp_id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group by</a:t>
            </a:r>
            <a:r>
              <a:rPr lang="en-IN" sz="2500">
                <a:solidFill>
                  <a:schemeClr val="dk2"/>
                </a:solidFill>
              </a:rPr>
              <a:t> emp_id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order by</a:t>
            </a:r>
            <a:r>
              <a:rPr lang="en-IN" sz="2500">
                <a:solidFill>
                  <a:srgbClr val="EFEFEF"/>
                </a:solidFill>
              </a:rPr>
              <a:t> </a:t>
            </a:r>
            <a:r>
              <a:rPr lang="en-IN" sz="2500">
                <a:solidFill>
                  <a:schemeClr val="dk2"/>
                </a:solidFill>
              </a:rPr>
              <a:t>count(leave_ID) desc ;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e313938e2_0_110"/>
          <p:cNvSpPr txBox="1"/>
          <p:nvPr>
            <p:ph idx="1" type="body"/>
          </p:nvPr>
        </p:nvSpPr>
        <p:spPr>
          <a:xfrm>
            <a:off x="694475" y="511525"/>
            <a:ext cx="10561800" cy="74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3200"/>
              <a:buChar char="❖"/>
            </a:pPr>
            <a:r>
              <a:rPr lang="en-IN" sz="28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What is the total number of leave days taken company-wide?</a:t>
            </a:r>
            <a:endParaRPr sz="4200">
              <a:solidFill>
                <a:srgbClr val="FF0000"/>
              </a:solidFill>
            </a:endParaRPr>
          </a:p>
        </p:txBody>
      </p:sp>
      <p:pic>
        <p:nvPicPr>
          <p:cNvPr id="274" name="Google Shape;274;g3de313938e2_0_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9875" y="2112300"/>
            <a:ext cx="4078650" cy="18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de313938e2_0_110"/>
          <p:cNvSpPr txBox="1"/>
          <p:nvPr/>
        </p:nvSpPr>
        <p:spPr>
          <a:xfrm>
            <a:off x="694475" y="1646950"/>
            <a:ext cx="4958100" cy="30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800">
                <a:solidFill>
                  <a:srgbClr val="0000FF"/>
                </a:solidFill>
              </a:rPr>
              <a:t>Select</a:t>
            </a:r>
            <a:r>
              <a:rPr lang="en-IN" sz="3800">
                <a:solidFill>
                  <a:schemeClr val="dk2"/>
                </a:solidFill>
              </a:rPr>
              <a:t> count(</a:t>
            </a:r>
            <a:r>
              <a:rPr lang="en-IN" sz="3800">
                <a:solidFill>
                  <a:srgbClr val="0000FF"/>
                </a:solidFill>
              </a:rPr>
              <a:t>distinct</a:t>
            </a:r>
            <a:r>
              <a:rPr lang="en-IN" sz="3800">
                <a:solidFill>
                  <a:schemeClr val="dk2"/>
                </a:solidFill>
              </a:rPr>
              <a:t> leave_id) </a:t>
            </a:r>
            <a:r>
              <a:rPr lang="en-IN" sz="3800">
                <a:solidFill>
                  <a:srgbClr val="0000FF"/>
                </a:solidFill>
              </a:rPr>
              <a:t>as</a:t>
            </a:r>
            <a:r>
              <a:rPr lang="en-IN" sz="3800">
                <a:solidFill>
                  <a:schemeClr val="dk2"/>
                </a:solidFill>
              </a:rPr>
              <a:t> total_leaves_count</a:t>
            </a:r>
            <a:endParaRPr sz="3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800">
                <a:solidFill>
                  <a:srgbClr val="0000FF"/>
                </a:solidFill>
              </a:rPr>
              <a:t>From Leaves</a:t>
            </a:r>
            <a:r>
              <a:rPr lang="en-IN" sz="3800">
                <a:solidFill>
                  <a:schemeClr val="dk2"/>
                </a:solidFill>
              </a:rPr>
              <a:t> ; </a:t>
            </a:r>
            <a:endParaRPr sz="3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e313938e2_0_124"/>
          <p:cNvSpPr txBox="1"/>
          <p:nvPr>
            <p:ph type="title"/>
          </p:nvPr>
        </p:nvSpPr>
        <p:spPr>
          <a:xfrm>
            <a:off x="394225" y="180350"/>
            <a:ext cx="115602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41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5. PAYROLL AND COMPENSATION ANALYSIS</a:t>
            </a:r>
            <a:endParaRPr b="1" sz="4100">
              <a:solidFill>
                <a:srgbClr val="00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de313938e2_0_124"/>
          <p:cNvSpPr txBox="1"/>
          <p:nvPr>
            <p:ph idx="1" type="body"/>
          </p:nvPr>
        </p:nvSpPr>
        <p:spPr>
          <a:xfrm>
            <a:off x="577175" y="1957775"/>
            <a:ext cx="6716100" cy="222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-IN" sz="19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What is the total monthly payroll processed?</a:t>
            </a:r>
            <a:br>
              <a:rPr lang="en-IN" sz="19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endParaRPr sz="19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What is the average bonus given per department?</a:t>
            </a:r>
            <a:br>
              <a:rPr lang="en-IN" sz="19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endParaRPr sz="19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Which department receives the highest total bonuses?</a:t>
            </a:r>
            <a:endParaRPr sz="3300"/>
          </a:p>
        </p:txBody>
      </p:sp>
      <p:pic>
        <p:nvPicPr>
          <p:cNvPr id="283" name="Google Shape;283;g3de313938e2_0_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4350" y="1794575"/>
            <a:ext cx="3909925" cy="398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e313938e2_0_130"/>
          <p:cNvSpPr txBox="1"/>
          <p:nvPr>
            <p:ph idx="1" type="body"/>
          </p:nvPr>
        </p:nvSpPr>
        <p:spPr>
          <a:xfrm>
            <a:off x="838200" y="511525"/>
            <a:ext cx="10767000" cy="87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4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3400"/>
              <a:buChar char="❖"/>
            </a:pPr>
            <a:r>
              <a:rPr lang="en-IN" sz="34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What is the total monthly payroll processed?</a:t>
            </a:r>
            <a:endParaRPr sz="4300">
              <a:solidFill>
                <a:srgbClr val="FF0000"/>
              </a:solidFill>
            </a:endParaRPr>
          </a:p>
        </p:txBody>
      </p:sp>
      <p:pic>
        <p:nvPicPr>
          <p:cNvPr id="290" name="Google Shape;290;g3de313938e2_0_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075" y="3329425"/>
            <a:ext cx="7272100" cy="12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de313938e2_0_130"/>
          <p:cNvSpPr txBox="1"/>
          <p:nvPr/>
        </p:nvSpPr>
        <p:spPr>
          <a:xfrm>
            <a:off x="1181275" y="1546825"/>
            <a:ext cx="7692000" cy="17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>
                <a:solidFill>
                  <a:srgbClr val="0000FF"/>
                </a:solidFill>
              </a:rPr>
              <a:t>select </a:t>
            </a:r>
            <a:r>
              <a:rPr lang="en-IN" sz="3000">
                <a:solidFill>
                  <a:schemeClr val="dk2"/>
                </a:solidFill>
              </a:rPr>
              <a:t>monthname(date) as month_name ,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>
                <a:solidFill>
                  <a:schemeClr val="dk2"/>
                </a:solidFill>
              </a:rPr>
              <a:t>sum(total_amount) as total_amount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rgbClr val="0000FF"/>
                </a:solidFill>
              </a:rPr>
              <a:t>from</a:t>
            </a:r>
            <a:r>
              <a:rPr lang="en-IN" sz="3000">
                <a:solidFill>
                  <a:schemeClr val="dk2"/>
                </a:solidFill>
              </a:rPr>
              <a:t> payroll ;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e313938e2_0_136"/>
          <p:cNvSpPr txBox="1"/>
          <p:nvPr>
            <p:ph idx="1" type="body"/>
          </p:nvPr>
        </p:nvSpPr>
        <p:spPr>
          <a:xfrm>
            <a:off x="856200" y="614175"/>
            <a:ext cx="10479600" cy="72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3200"/>
              <a:buChar char="❖"/>
            </a:pPr>
            <a:r>
              <a:rPr lang="en-IN" sz="34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What is the average bonus given per department?</a:t>
            </a:r>
            <a:endParaRPr sz="4100"/>
          </a:p>
        </p:txBody>
      </p:sp>
      <p:pic>
        <p:nvPicPr>
          <p:cNvPr id="298" name="Google Shape;298;g3de313938e2_0_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1717075"/>
            <a:ext cx="5057100" cy="374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de313938e2_0_136"/>
          <p:cNvSpPr txBox="1"/>
          <p:nvPr/>
        </p:nvSpPr>
        <p:spPr>
          <a:xfrm>
            <a:off x="5347175" y="1998013"/>
            <a:ext cx="6731700" cy="3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select</a:t>
            </a:r>
            <a:r>
              <a:rPr lang="en-IN" sz="2500">
                <a:solidFill>
                  <a:schemeClr val="dk2"/>
                </a:solidFill>
              </a:rPr>
              <a:t> j.jobdept ,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chemeClr val="dk2"/>
                </a:solidFill>
              </a:rPr>
              <a:t>round(avg(bonus),2) as avg_bonus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from</a:t>
            </a:r>
            <a:r>
              <a:rPr lang="en-IN" sz="2500">
                <a:solidFill>
                  <a:schemeClr val="dk2"/>
                </a:solidFill>
              </a:rPr>
              <a:t> salarybonus s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join </a:t>
            </a:r>
            <a:r>
              <a:rPr lang="en-IN" sz="2500">
                <a:solidFill>
                  <a:schemeClr val="dk2"/>
                </a:solidFill>
              </a:rPr>
              <a:t>jobdepartment j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chemeClr val="dk2"/>
                </a:solidFill>
              </a:rPr>
              <a:t>on j.job_id = s.job_id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group by</a:t>
            </a:r>
            <a:r>
              <a:rPr lang="en-IN" sz="2500">
                <a:solidFill>
                  <a:schemeClr val="dk2"/>
                </a:solidFill>
              </a:rPr>
              <a:t> j.jobdept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order by </a:t>
            </a:r>
            <a:r>
              <a:rPr lang="en-IN" sz="2500">
                <a:solidFill>
                  <a:schemeClr val="dk2"/>
                </a:solidFill>
              </a:rPr>
              <a:t>avg_bonus desc;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e313938e2_0_142"/>
          <p:cNvSpPr txBox="1"/>
          <p:nvPr/>
        </p:nvSpPr>
        <p:spPr>
          <a:xfrm>
            <a:off x="271025" y="596950"/>
            <a:ext cx="11272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3000"/>
              <a:buChar char="❖"/>
            </a:pPr>
            <a:r>
              <a:rPr lang="en-IN" sz="3400">
                <a:solidFill>
                  <a:srgbClr val="FF0000"/>
                </a:solidFill>
                <a:highlight>
                  <a:srgbClr val="FFFFFF"/>
                </a:highlight>
              </a:rPr>
              <a:t>Which department receives the highest total bonuses?</a:t>
            </a:r>
            <a:endParaRPr sz="2500"/>
          </a:p>
        </p:txBody>
      </p:sp>
      <p:pic>
        <p:nvPicPr>
          <p:cNvPr id="306" name="Google Shape;306;g3de313938e2_0_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3277" y="1547175"/>
            <a:ext cx="4832323" cy="4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de313938e2_0_142"/>
          <p:cNvSpPr txBox="1"/>
          <p:nvPr/>
        </p:nvSpPr>
        <p:spPr>
          <a:xfrm>
            <a:off x="531725" y="1608750"/>
            <a:ext cx="5725200" cy="3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select</a:t>
            </a:r>
            <a:r>
              <a:rPr lang="en-IN" sz="2500">
                <a:solidFill>
                  <a:schemeClr val="dk2"/>
                </a:solidFill>
              </a:rPr>
              <a:t> j.jobdept ,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chemeClr val="dk2"/>
                </a:solidFill>
              </a:rPr>
              <a:t>round(sum(bonus),2) as total_bonus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from</a:t>
            </a:r>
            <a:r>
              <a:rPr lang="en-IN" sz="2500">
                <a:solidFill>
                  <a:schemeClr val="dk2"/>
                </a:solidFill>
              </a:rPr>
              <a:t> salarybonus s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join </a:t>
            </a:r>
            <a:r>
              <a:rPr lang="en-IN" sz="2500">
                <a:solidFill>
                  <a:schemeClr val="dk2"/>
                </a:solidFill>
              </a:rPr>
              <a:t>jobdepartment j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chemeClr val="dk2"/>
                </a:solidFill>
              </a:rPr>
              <a:t>on j.job_id = s.job_id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group by</a:t>
            </a:r>
            <a:r>
              <a:rPr lang="en-IN" sz="2500">
                <a:solidFill>
                  <a:schemeClr val="dk2"/>
                </a:solidFill>
              </a:rPr>
              <a:t> j.jobdept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rgbClr val="0000FF"/>
                </a:solidFill>
              </a:rPr>
              <a:t>order by</a:t>
            </a:r>
            <a:r>
              <a:rPr lang="en-IN" sz="2500">
                <a:solidFill>
                  <a:schemeClr val="dk2"/>
                </a:solidFill>
              </a:rPr>
              <a:t> total_bonus desc;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e7948e67e_0_968"/>
          <p:cNvSpPr txBox="1"/>
          <p:nvPr>
            <p:ph type="title"/>
          </p:nvPr>
        </p:nvSpPr>
        <p:spPr>
          <a:xfrm>
            <a:off x="394225" y="180350"/>
            <a:ext cx="11560200" cy="82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4100">
                <a:solidFill>
                  <a:srgbClr val="0000FF"/>
                </a:solidFill>
                <a:highlight>
                  <a:srgbClr val="FFFFFF"/>
                </a:highlight>
              </a:rPr>
              <a:t>Conclusion</a:t>
            </a:r>
            <a:endParaRPr b="1" sz="4100">
              <a:solidFill>
                <a:srgbClr val="00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de7948e67e_0_968"/>
          <p:cNvSpPr txBox="1"/>
          <p:nvPr/>
        </p:nvSpPr>
        <p:spPr>
          <a:xfrm>
            <a:off x="552150" y="1067700"/>
            <a:ext cx="11263500" cy="50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b="1" lang="en-IN" sz="2100">
                <a:solidFill>
                  <a:schemeClr val="dk1"/>
                </a:solidFill>
              </a:rPr>
              <a:t>Finance Department</a:t>
            </a:r>
            <a:r>
              <a:rPr lang="en-IN" sz="2100">
                <a:solidFill>
                  <a:schemeClr val="dk1"/>
                </a:solidFill>
              </a:rPr>
              <a:t> has the highest number of employees 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IN" sz="2100">
                <a:solidFill>
                  <a:schemeClr val="dk1"/>
                </a:solidFill>
              </a:rPr>
              <a:t>The high headcount in Finance is partly due to the fact that it contains </a:t>
            </a:r>
            <a:r>
              <a:rPr b="1" lang="en-IN" sz="2100">
                <a:solidFill>
                  <a:schemeClr val="dk1"/>
                </a:solidFill>
              </a:rPr>
              <a:t>9 different job roles</a:t>
            </a:r>
            <a:r>
              <a:rPr lang="en-IN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b="1" lang="en-IN" sz="2100">
                <a:solidFill>
                  <a:schemeClr val="dk1"/>
                </a:solidFill>
              </a:rPr>
              <a:t>Jack Thomas</a:t>
            </a:r>
            <a:r>
              <a:rPr lang="en-IN" sz="2100">
                <a:solidFill>
                  <a:schemeClr val="dk1"/>
                </a:solidFill>
              </a:rPr>
              <a:t> and </a:t>
            </a:r>
            <a:r>
              <a:rPr b="1" lang="en-IN" sz="2100">
                <a:solidFill>
                  <a:schemeClr val="dk1"/>
                </a:solidFill>
              </a:rPr>
              <a:t>Paul Clark</a:t>
            </a:r>
            <a:r>
              <a:rPr lang="en-IN" sz="2100">
                <a:solidFill>
                  <a:schemeClr val="dk1"/>
                </a:solidFill>
              </a:rPr>
              <a:t> are the top two highest-paid employees in the organization.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IN" sz="2100">
                <a:solidFill>
                  <a:schemeClr val="dk1"/>
                </a:solidFill>
              </a:rPr>
              <a:t>The </a:t>
            </a:r>
            <a:r>
              <a:rPr b="1" lang="en-IN" sz="2100">
                <a:solidFill>
                  <a:schemeClr val="dk1"/>
                </a:solidFill>
              </a:rPr>
              <a:t>Legal Department</a:t>
            </a:r>
            <a:r>
              <a:rPr lang="en-IN" sz="2100">
                <a:solidFill>
                  <a:schemeClr val="dk1"/>
                </a:solidFill>
              </a:rPr>
              <a:t> (</a:t>
            </a:r>
            <a:r>
              <a:rPr b="1" lang="en-IN" sz="2100">
                <a:solidFill>
                  <a:schemeClr val="dk1"/>
                </a:solidFill>
              </a:rPr>
              <a:t>Legal Advisor</a:t>
            </a:r>
            <a:r>
              <a:rPr lang="en-IN" sz="2100">
                <a:solidFill>
                  <a:schemeClr val="dk1"/>
                </a:solidFill>
              </a:rPr>
              <a:t> is the job role) </a:t>
            </a:r>
            <a:r>
              <a:rPr lang="en-IN" sz="2100">
                <a:solidFill>
                  <a:schemeClr val="dk1"/>
                </a:solidFill>
              </a:rPr>
              <a:t>overall has a high salary allocation.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IN" sz="2100">
                <a:solidFill>
                  <a:schemeClr val="dk1"/>
                </a:solidFill>
              </a:rPr>
              <a:t>Most job roles require at least </a:t>
            </a:r>
            <a:r>
              <a:rPr b="1" lang="en-IN" sz="2100">
                <a:solidFill>
                  <a:schemeClr val="dk1"/>
                </a:solidFill>
              </a:rPr>
              <a:t>one qualification</a:t>
            </a:r>
            <a:r>
              <a:rPr lang="en-IN" sz="2100">
                <a:solidFill>
                  <a:schemeClr val="dk1"/>
                </a:solidFill>
              </a:rPr>
              <a:t>.</a:t>
            </a:r>
            <a:endParaRPr b="1" sz="23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IN" sz="2100">
                <a:solidFill>
                  <a:schemeClr val="dk1"/>
                </a:solidFill>
              </a:rPr>
              <a:t>The total monthly payroll processed was </a:t>
            </a:r>
            <a:r>
              <a:rPr b="1" lang="en-IN" sz="2100">
                <a:solidFill>
                  <a:schemeClr val="dk1"/>
                </a:solidFill>
              </a:rPr>
              <a:t>2,778,000 (2.77M)</a:t>
            </a:r>
            <a:r>
              <a:rPr lang="en-IN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IN" sz="2100">
                <a:solidFill>
                  <a:schemeClr val="dk1"/>
                </a:solidFill>
              </a:rPr>
              <a:t>The </a:t>
            </a:r>
            <a:r>
              <a:rPr b="1" lang="en-IN" sz="2100">
                <a:solidFill>
                  <a:schemeClr val="dk1"/>
                </a:solidFill>
              </a:rPr>
              <a:t>Finance Department</a:t>
            </a:r>
            <a:r>
              <a:rPr lang="en-IN" sz="2100">
                <a:solidFill>
                  <a:schemeClr val="dk1"/>
                </a:solidFill>
              </a:rPr>
              <a:t> has the highest total bonuses overall.</a:t>
            </a:r>
            <a:endParaRPr b="1" sz="23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b="1" lang="en-IN" sz="2100">
                <a:solidFill>
                  <a:schemeClr val="dk1"/>
                </a:solidFill>
              </a:rPr>
              <a:t>January</a:t>
            </a:r>
            <a:r>
              <a:rPr lang="en-IN" sz="2100">
                <a:solidFill>
                  <a:schemeClr val="dk1"/>
                </a:solidFill>
              </a:rPr>
              <a:t> is the month with the most employees taking leaves. </a:t>
            </a:r>
            <a:r>
              <a:rPr b="1" lang="en-IN" sz="2100">
                <a:solidFill>
                  <a:schemeClr val="dk1"/>
                </a:solidFill>
              </a:rPr>
              <a:t>July</a:t>
            </a:r>
            <a:r>
              <a:rPr lang="en-IN" sz="2100">
                <a:solidFill>
                  <a:schemeClr val="dk1"/>
                </a:solidFill>
              </a:rPr>
              <a:t> is the month with the fewest employees taking leaves.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IN" sz="2100">
                <a:solidFill>
                  <a:schemeClr val="dk1"/>
                </a:solidFill>
              </a:rPr>
              <a:t>On average, employees across departments take </a:t>
            </a:r>
            <a:r>
              <a:rPr b="1" lang="en-IN" sz="2100">
                <a:solidFill>
                  <a:schemeClr val="dk1"/>
                </a:solidFill>
              </a:rPr>
              <a:t>1–2 days of leave</a:t>
            </a:r>
            <a:r>
              <a:rPr lang="en-IN" sz="2100">
                <a:solidFill>
                  <a:schemeClr val="dk1"/>
                </a:solidFill>
              </a:rPr>
              <a:t>.</a:t>
            </a:r>
            <a:endParaRPr sz="340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e7948e67e_0_975"/>
          <p:cNvSpPr txBox="1"/>
          <p:nvPr>
            <p:ph type="title"/>
          </p:nvPr>
        </p:nvSpPr>
        <p:spPr>
          <a:xfrm>
            <a:off x="394225" y="180350"/>
            <a:ext cx="115602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4100">
                <a:solidFill>
                  <a:srgbClr val="0000FF"/>
                </a:solidFill>
                <a:highlight>
                  <a:srgbClr val="FFFFFF"/>
                </a:highlight>
              </a:rPr>
              <a:t>Challenges</a:t>
            </a:r>
            <a:endParaRPr b="1" sz="4100">
              <a:solidFill>
                <a:srgbClr val="00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de7948e67e_0_975"/>
          <p:cNvSpPr txBox="1"/>
          <p:nvPr/>
        </p:nvSpPr>
        <p:spPr>
          <a:xfrm>
            <a:off x="727150" y="1454300"/>
            <a:ext cx="11227200" cy="3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-IN" sz="2400"/>
              <a:t>Managed salary ranges in place of fixed amounts to enable accurate compensation benchmarking.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-IN" sz="2400"/>
              <a:t>Shifted to monthly analysis due to the dataset being restricted to the year 2024.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-IN" sz="2400"/>
              <a:t>Resolved table complexities and implemented multi-table joins to ensure data accuracy.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-IN" sz="2400"/>
              <a:t>Maintained data integrity by establishing and verifying correct foreign key relationships.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➔"/>
            </a:pPr>
            <a:r>
              <a:rPr lang="en-IN" sz="2400"/>
              <a:t>Addressed data inconsistencies to produce reliable payroll and leave reports</a:t>
            </a:r>
            <a:r>
              <a:rPr lang="en-IN" sz="2400">
                <a:solidFill>
                  <a:schemeClr val="dk2"/>
                </a:solidFill>
              </a:rPr>
              <a:t>.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"/>
          <p:cNvSpPr/>
          <p:nvPr/>
        </p:nvSpPr>
        <p:spPr>
          <a:xfrm>
            <a:off x="2193938" y="827675"/>
            <a:ext cx="7804119" cy="493281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FFFF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Pacifico"/>
              </a:rPr>
              <a:t>Thank You</a:t>
            </a:r>
          </a:p>
        </p:txBody>
      </p:sp>
      <p:pic>
        <p:nvPicPr>
          <p:cNvPr id="327" name="Google Shape;32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7325" y="6188600"/>
            <a:ext cx="3624675" cy="6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2021-02-16T05:19:01Z</dcterms:created>
  <dc:creator>Raghu Ram Aduri</dc:creator>
</cp:coreProperties>
</file>